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defRPr sz="3200" b="1">
                <a:solidFill>
                  <a:srgbClr val="AAAAAA"/>
                </a:solidFill>
              </a:defRPr>
            </a:pPr>
            <a:r>
              <a:t>BÁO CÁO ĐỒ ÁN</a:t>
            </a:r>
          </a:p>
          <a:p>
            <a:pPr algn="ctr">
              <a:defRPr sz="5000" b="1">
                <a:solidFill>
                  <a:srgbClr val="EC4899"/>
                </a:solidFill>
              </a:defRPr>
            </a:pPr>
            <a:r>
              <a:t>WEBSITE BÁN BÁNH NGỌT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000">
                <a:solidFill>
                  <a:srgbClr val="3B82F6"/>
                </a:solidFill>
              </a:defRPr>
            </a:pPr>
            <a:r>
              <a:t>Môn: Phân Tích Thiết Kế Hệ Thống</a:t>
            </a:r>
            <a:br/>
            <a:r>
              <a:t>GVHD: Th.S Nguyễn Văn Danh</a:t>
            </a:r>
            <a:br/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t>Sinh viên: Hoàng Minh Triều | Nguyễn Gia Sinh</a:t>
            </a:r>
            <a:br/>
            <a:r>
              <a:t>Võ Hữu Trí | Phan Tấn Phát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EC4899"/>
                </a:solidFill>
              </a:defRPr>
            </a:pPr>
            <a:r>
              <a:t>CHƯƠNG 1: TỔNG QUAN ĐỀ TÀI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400" b="1">
                <a:solidFill>
                  <a:srgbClr val="3B82F6"/>
                </a:solidFill>
              </a:defRPr>
            </a:pPr>
            <a:r>
              <a:t>Lý do chọn đề tài: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• Hành vi người dùng chuyển dịch mạnh sang mua sắm trực tuyến.</a:t>
            </a:r>
            <a:br/>
            <a:r>
              <a:t>• Khắc phục hạn chế của cửa hàng bán bánh truyền thống.</a:t>
            </a:r>
            <a:br/>
            <a:r>
              <a:t>• Tối ưu hóa chu trình: Nhận đơn - Làm bánh - Giao hàng.</a:t>
            </a:r>
          </a:p>
          <a:p>
            <a:br/>
            <a:pPr>
              <a:defRPr sz="2400" b="1">
                <a:solidFill>
                  <a:srgbClr val="3B82F6"/>
                </a:solidFill>
              </a:defRPr>
            </a:pPr>
            <a:r>
              <a:t>Mục tiêu hệ thống: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• Hệ thống kinh doanh trực tuyến: Giao diện trực quan, bộ lọc thông minh.</a:t>
            </a:r>
            <a:br/>
            <a:r>
              <a:t>• Hệ thống vận hành nội bộ (Kho, Bếp, Bán hàng) minh bạch.</a:t>
            </a:r>
            <a:br/>
            <a:r>
              <a:t>• Frontend: HTML/CSS/JS (React/Vue). Backend: NodeJS/PHP. DB: MySQL.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EC4899"/>
                </a:solidFill>
              </a:defRPr>
            </a:pPr>
            <a:r>
              <a:t>CHƯƠNG 2: HỆ THỐNG BIỂU MẪU NGHIỆP VỤ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200" i="1">
                <a:solidFill>
                  <a:srgbClr val="AAAAAA"/>
                </a:solidFill>
              </a:defRPr>
            </a:pPr>
            <a:r>
              <a:t>Dựa trên khảo sát thực tế (Tiệm Bánh Làng Xì Mi), hệ thống áp dụng 6 biểu mẫu lõi:</a:t>
            </a:r>
          </a:p>
          <a:p>
            <a:br/>
            <a:pPr>
              <a:defRPr sz="2200" b="1">
                <a:solidFill>
                  <a:srgbClr val="FFFFFF"/>
                </a:solidFill>
              </a:defRPr>
            </a:pPr>
            <a:r>
              <a:t>1. Biểu mẫu Bảng thanh toán tiền lương (Mẫu 02-L)</a:t>
            </a:r>
          </a:p>
          <a:p>
            <a:br/>
            <a:pPr>
              <a:defRPr sz="2200" b="1">
                <a:solidFill>
                  <a:srgbClr val="3B82F6"/>
                </a:solidFill>
              </a:defRPr>
            </a:pPr>
            <a:r>
              <a:t>2. Biểu mẫu Phiếu thu (Mẫu 01-TT)</a:t>
            </a:r>
          </a:p>
          <a:p>
            <a:br/>
            <a:pPr>
              <a:defRPr sz="2200" b="1">
                <a:solidFill>
                  <a:srgbClr val="FFFFFF"/>
                </a:solidFill>
              </a:defRPr>
            </a:pPr>
            <a:r>
              <a:t>3. Biểu mẫu Phiếu nhập kho (Mẫu 01-VT)</a:t>
            </a:r>
          </a:p>
          <a:p>
            <a:br/>
            <a:pPr>
              <a:defRPr sz="2200" b="1">
                <a:solidFill>
                  <a:srgbClr val="3B82F6"/>
                </a:solidFill>
              </a:defRPr>
            </a:pPr>
            <a:r>
              <a:t>4. Biểu mẫu Chứng từ thanh toán lương (Mẫu CT-TTL)</a:t>
            </a:r>
          </a:p>
          <a:p>
            <a:br/>
            <a:pPr>
              <a:defRPr sz="2200" b="1">
                <a:solidFill>
                  <a:srgbClr val="FFFFFF"/>
                </a:solidFill>
              </a:defRPr>
            </a:pPr>
            <a:r>
              <a:t>5. Biểu mẫu Phiếu chi (Mẫu 02-TT)</a:t>
            </a:r>
          </a:p>
          <a:p>
            <a:br/>
            <a:pPr>
              <a:defRPr sz="2200" b="1">
                <a:solidFill>
                  <a:srgbClr val="3B82F6"/>
                </a:solidFill>
              </a:defRPr>
            </a:pPr>
            <a:r>
              <a:t>6. Biểu mẫu Phiếu xuất kho (Mẫu 02-VT)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EC4899"/>
                </a:solidFill>
              </a:defRPr>
            </a:pPr>
            <a:r>
              <a:t>SƠ ĐỒ CHỨC NĂNG (BFD) &amp; USE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400" b="1">
                <a:solidFill>
                  <a:srgbClr val="3B82F6"/>
                </a:solidFill>
              </a:defRPr>
            </a:pPr>
            <a:r>
              <a:t>1. Sơ đồ BFD (Business Function Diagram)</a:t>
            </a:r>
          </a:p>
          <a:p>
            <a:pPr>
              <a:defRPr sz="1800">
                <a:solidFill>
                  <a:srgbClr val="AAAAAA"/>
                </a:solidFill>
              </a:defRPr>
            </a:pPr>
            <a:r>
              <a:t>Phân rã các chức năng thành các khối nghiệp vụ logic độc lập.</a:t>
            </a:r>
          </a:p>
          <a:p>
            <a:br/>
            <a:pPr>
              <a:defRPr sz="2400" b="1">
                <a:solidFill>
                  <a:srgbClr val="3B82F6"/>
                </a:solidFill>
              </a:defRPr>
            </a:pPr>
            <a:r>
              <a:t>2. Sơ đồ Use Case (Mô hình hóa tác nhân và hành vi)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• Sơ đồ Tổng quát</a:t>
            </a:r>
            <a:br/>
            <a:r>
              <a:t>• Sơ đồ Phân rã Cấp 1 (8 modules):</a:t>
            </a:r>
          </a:p>
          <a:p>
            <a:pPr>
              <a:defRPr sz="1800">
                <a:solidFill>
                  <a:srgbClr val="10B981"/>
                </a:solidFill>
              </a:defRPr>
            </a:pPr>
            <a:r>
              <a:t>   - Quản lý sản phẩm (Bánh)  |  - Quản lý đơn hàng</a:t>
            </a:r>
            <a:br/>
            <a:r>
              <a:t>   - Quản lý tài khoản        |  - Quản lý giỏ hàng</a:t>
            </a:r>
            <a:br/>
            <a:r>
              <a:t>   - Phân rã tìm kiếm         |  - Quản lý nhân viên</a:t>
            </a:r>
            <a:br/>
            <a:r>
              <a:t>   - Phân rã xem sản phẩm     |  - Quản lý người dùng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• Sơ đồ Phân rã Cấp 2 (4 quy trình lõi):</a:t>
            </a:r>
          </a:p>
          <a:p>
            <a:pPr>
              <a:defRPr sz="1800">
                <a:solidFill>
                  <a:srgbClr val="10B981"/>
                </a:solidFill>
              </a:defRPr>
            </a:pPr>
            <a:r>
              <a:t>   - Phân rã Đăng nhập        |  - Phân rã Đặt hàng</a:t>
            </a:r>
            <a:br/>
            <a:r>
              <a:t>   - Phân rã Thêm bánh        |  - Phân rã Trả hàng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EC4899"/>
                </a:solidFill>
              </a:defRPr>
            </a:pPr>
            <a:r>
              <a:t>SƠ ĐỒ HOẠT ĐỘNG (ACTIVITY) &amp; TUẦN TỰ (SEQUENCE)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200">
                <a:solidFill>
                  <a:srgbClr val="FFFFFF"/>
                </a:solidFill>
              </a:defRPr>
            </a:pPr>
            <a:r>
              <a:t>Thiết kế chi tiết luồng xử lý và tương tác hệ thống qua 4 luồng chính:</a:t>
            </a:r>
          </a:p>
          <a:p>
            <a:br/>
            <a:pPr>
              <a:defRPr sz="2200" b="1">
                <a:solidFill>
                  <a:srgbClr val="3B82F6"/>
                </a:solidFill>
              </a:defRPr>
            </a:pPr>
            <a:r>
              <a:t>✔️ Luồng Đăng nhập (Xác thực và phân quyền)</a:t>
            </a:r>
          </a:p>
          <a:p>
            <a:pPr>
              <a:defRPr sz="1800">
                <a:solidFill>
                  <a:srgbClr val="AAAAAA"/>
                </a:solidFill>
              </a:defRPr>
            </a:pPr>
            <a:r>
              <a:t>   - Cung cấp sơ đồ Hoạt Động (Activity Diagram)</a:t>
            </a:r>
            <a:br/>
            <a:r>
              <a:t>   - Cung cấp sơ đồ Tuần Tự (Sequence Diagram)</a:t>
            </a:r>
          </a:p>
          <a:p>
            <a:br/>
            <a:pPr>
              <a:defRPr sz="2200" b="1">
                <a:solidFill>
                  <a:srgbClr val="3B82F6"/>
                </a:solidFill>
              </a:defRPr>
            </a:pPr>
            <a:r>
              <a:t>✔️ Luồng Đặt hàng (Quy trình Checkout, giỏ hàng, xác nhận)</a:t>
            </a:r>
          </a:p>
          <a:p>
            <a:pPr>
              <a:defRPr sz="1800">
                <a:solidFill>
                  <a:srgbClr val="AAAAAA"/>
                </a:solidFill>
              </a:defRPr>
            </a:pPr>
            <a:r>
              <a:t>   - Cung cấp sơ đồ Hoạt Động (Activity Diagram)</a:t>
            </a:r>
            <a:br/>
            <a:r>
              <a:t>   - Cung cấp sơ đồ Tuần Tự (Sequence Diagram)</a:t>
            </a:r>
          </a:p>
          <a:p>
            <a:br/>
            <a:pPr>
              <a:defRPr sz="2200" b="1">
                <a:solidFill>
                  <a:srgbClr val="3B82F6"/>
                </a:solidFill>
              </a:defRPr>
            </a:pPr>
            <a:r>
              <a:t>✔️ Luồng Trả hàng (Xử lý hoàn trả, cập nhật kho)</a:t>
            </a:r>
          </a:p>
          <a:p>
            <a:pPr>
              <a:defRPr sz="1800">
                <a:solidFill>
                  <a:srgbClr val="AAAAAA"/>
                </a:solidFill>
              </a:defRPr>
            </a:pPr>
            <a:r>
              <a:t>   - Cung cấp sơ đồ Hoạt Động (Activity Diagram)</a:t>
            </a:r>
            <a:br/>
            <a:r>
              <a:t>   - Cung cấp sơ đồ Tuần Tự (Sequence Diagram)</a:t>
            </a:r>
          </a:p>
          <a:p>
            <a:br/>
            <a:pPr>
              <a:defRPr sz="2200" b="1">
                <a:solidFill>
                  <a:srgbClr val="3B82F6"/>
                </a:solidFill>
              </a:defRPr>
            </a:pPr>
            <a:r>
              <a:t>✔️ Luồng Thêm bánh (Nhập liệu từ Admin, lưu vào Database)</a:t>
            </a:r>
          </a:p>
          <a:p>
            <a:pPr>
              <a:defRPr sz="1800">
                <a:solidFill>
                  <a:srgbClr val="AAAAAA"/>
                </a:solidFill>
              </a:defRPr>
            </a:pPr>
            <a:r>
              <a:t>   - Cung cấp sơ đồ Hoạt Động (Activity Diagram)</a:t>
            </a:r>
            <a:br/>
            <a:r>
              <a:t>   - Cung cấp sơ đồ Tuần Tự (Sequence Diagram)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defRPr sz="6000" b="1">
                <a:solidFill>
                  <a:srgbClr val="EC4899"/>
                </a:solidFill>
              </a:defRPr>
            </a:pPr>
            <a:r>
              <a:t>XIN CẢM ƠN!</a:t>
            </a:r>
          </a:p>
          <a:p>
            <a:pPr algn="ctr">
              <a:defRPr sz="2400">
                <a:solidFill>
                  <a:srgbClr val="FFFFFF"/>
                </a:solidFill>
              </a:defRPr>
            </a:pPr>
            <a:r>
              <a:t>Phần trình bày báo cáo Website Bán Bánh Ngọt kết thúc.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